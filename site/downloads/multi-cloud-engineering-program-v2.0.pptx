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b1d018ecb84bde" /><Relationship Type="http://schemas.openxmlformats.org/officeDocument/2006/relationships/extended-properties" Target="/docProps/app.xml" Id="R9f7ecb5afd02431b" /><Relationship Type="http://schemas.openxmlformats.org/officeDocument/2006/relationships/officeDocument" Target="/ppt/presentation.xml" Id="Raa45114e625a4f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b461d382b249f8"/>
  </p:sldMasterIdLst>
  <p:notesMasterIdLst>
    <p:notesMasterId xmlns:r="http://schemas.openxmlformats.org/officeDocument/2006/relationships" r:id="R7ea53151fbee44e4"/>
  </p:notesMasterIdLst>
  <p:sldIdLst>
    <p:sldId xmlns:r="http://schemas.openxmlformats.org/officeDocument/2006/relationships" id="256" r:id="Raf8fd0c4832c437b"/>
    <p:sldId xmlns:r="http://schemas.openxmlformats.org/officeDocument/2006/relationships" id="257" r:id="R338c28c33c154d91"/>
    <p:sldId xmlns:r="http://schemas.openxmlformats.org/officeDocument/2006/relationships" id="258" r:id="R6ffd5d469a23439c"/>
    <p:sldId xmlns:r="http://schemas.openxmlformats.org/officeDocument/2006/relationships" id="259" r:id="Rc9f391d24e134803"/>
    <p:sldId xmlns:r="http://schemas.openxmlformats.org/officeDocument/2006/relationships" id="260" r:id="Rf704de6bda2e49ff"/>
    <p:sldId xmlns:r="http://schemas.openxmlformats.org/officeDocument/2006/relationships" id="261" r:id="Raf07b8c6a7934042"/>
    <p:sldId xmlns:r="http://schemas.openxmlformats.org/officeDocument/2006/relationships" id="262" r:id="R3a035951b08f40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c9ae3495cc40ee" /><Relationship Type="http://schemas.openxmlformats.org/officeDocument/2006/relationships/slideMaster" Target="/ppt/slideMasters/slideMaster1.xml" Id="R46b461d382b249f8" /><Relationship Type="http://schemas.openxmlformats.org/officeDocument/2006/relationships/notesMaster" Target="/ppt/notesMasters/notesMaster1.xml" Id="R7ea53151fbee44e4" /><Relationship Type="http://schemas.openxmlformats.org/officeDocument/2006/relationships/presProps" Target="/ppt/presProps.xml" Id="R5774e871efc74964" /><Relationship Type="http://schemas.openxmlformats.org/officeDocument/2006/relationships/tableStyles" Target="/ppt/tableStyles.xml" Id="R6bf34cd40c5441cf" /><Relationship Type="http://schemas.openxmlformats.org/officeDocument/2006/relationships/slide" Target="/ppt/slides/slide1.xml" Id="Raf8fd0c4832c437b" /><Relationship Type="http://schemas.openxmlformats.org/officeDocument/2006/relationships/slide" Target="/ppt/slides/slide2.xml" Id="R338c28c33c154d91" /><Relationship Type="http://schemas.openxmlformats.org/officeDocument/2006/relationships/slide" Target="/ppt/slides/slide3.xml" Id="R6ffd5d469a23439c" /><Relationship Type="http://schemas.openxmlformats.org/officeDocument/2006/relationships/slide" Target="/ppt/slides/slide4.xml" Id="Rc9f391d24e134803" /><Relationship Type="http://schemas.openxmlformats.org/officeDocument/2006/relationships/slide" Target="/ppt/slides/slide5.xml" Id="Rf704de6bda2e49ff" /><Relationship Type="http://schemas.openxmlformats.org/officeDocument/2006/relationships/slide" Target="/ppt/slides/slide6.xml" Id="Raf07b8c6a7934042" /><Relationship Type="http://schemas.openxmlformats.org/officeDocument/2006/relationships/slide" Target="/ppt/slides/slide7.xml" Id="R3a035951b08f40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acbdb6f07941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0dd6af62f2444d" /><Relationship Type="http://schemas.openxmlformats.org/officeDocument/2006/relationships/notesMaster" Target="/ppt/notesMasters/notesMaster1.xml" Id="R26c8849453aa4e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2588f63d2a41bf" /><Relationship Type="http://schemas.openxmlformats.org/officeDocument/2006/relationships/notesMaster" Target="/ppt/notesMasters/notesMaster1.xml" Id="R04bac5273f9c4e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d94ac787d4426c" /><Relationship Type="http://schemas.openxmlformats.org/officeDocument/2006/relationships/notesMaster" Target="/ppt/notesMasters/notesMaster1.xml" Id="R002a7841b14044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5fb66fef7d4450" /><Relationship Type="http://schemas.openxmlformats.org/officeDocument/2006/relationships/notesMaster" Target="/ppt/notesMasters/notesMaster1.xml" Id="R9dd9003aee564f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d1729a5fb84609" /><Relationship Type="http://schemas.openxmlformats.org/officeDocument/2006/relationships/notesMaster" Target="/ppt/notesMasters/notesMaster1.xml" Id="R5bbcce43690f4b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0eced9ea3545a5" /><Relationship Type="http://schemas.openxmlformats.org/officeDocument/2006/relationships/notesMaster" Target="/ppt/notesMasters/notesMaster1.xml" Id="R06064d2f602a40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66a032f4a1427b" /><Relationship Type="http://schemas.openxmlformats.org/officeDocument/2006/relationships/notesMaster" Target="/ppt/notesMasters/notesMaster1.xml" Id="R6a3396b8405442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bd9508bb8a4e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7931e84f8d425e" /><Relationship Type="http://schemas.openxmlformats.org/officeDocument/2006/relationships/slideLayout" Target="/ppt/slideLayouts/slideLayout1.xml" Id="R741452d243a24a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1452d243a24a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50a50a1494065" /><Relationship Type="http://schemas.openxmlformats.org/officeDocument/2006/relationships/notesSlide" Target="/ppt/notesSlides/notesSlide1.xml" Id="R89c00ffbe0b44b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c3c93913c4c10" /><Relationship Type="http://schemas.openxmlformats.org/officeDocument/2006/relationships/notesSlide" Target="/ppt/notesSlides/notesSlide2.xml" Id="R855c8cb5737542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2fb21fb31480f" /><Relationship Type="http://schemas.openxmlformats.org/officeDocument/2006/relationships/notesSlide" Target="/ppt/notesSlides/notesSlide3.xml" Id="R7979c561005948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f876de29444fa" /><Relationship Type="http://schemas.openxmlformats.org/officeDocument/2006/relationships/chart" Target="/ppt/slides/charts/chart1.xml" Id="Ra746731226704041" /><Relationship Type="http://schemas.openxmlformats.org/officeDocument/2006/relationships/notesSlide" Target="/ppt/notesSlides/notesSlide4.xml" Id="R24e6ce3106f24d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103a3afd24313" /><Relationship Type="http://schemas.openxmlformats.org/officeDocument/2006/relationships/notesSlide" Target="/ppt/notesSlides/notesSlide5.xml" Id="R24f9bda66bb242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3840b3c304943" /><Relationship Type="http://schemas.openxmlformats.org/officeDocument/2006/relationships/notesSlide" Target="/ppt/notesSlides/notesSlide6.xml" Id="R993067b4157549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88d9f3cc44020" /><Relationship Type="http://schemas.openxmlformats.org/officeDocument/2006/relationships/notesSlide" Target="/ppt/notesSlides/notesSlide7.xml" Id="Rdf87a64e33624ca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Ciclo</c:v>
          </c:tx>
          <c:spPr>
            <a:solidFill xmlns:a="http://schemas.openxmlformats.org/drawingml/2006/main">
              <a:srgbClr val="007C83"/>
            </a:solidFill>
          </c:spPr>
          <c:cat>
            <c:strLit>
              <c:ptCount val="5"/>
              <c:pt idx="0">
                <c:v>Predecir</c:v>
              </c:pt>
              <c:pt idx="1">
                <c:v>Ejecutar</c:v>
              </c:pt>
              <c:pt idx="2">
                <c:v>Fallar</c:v>
              </c:pt>
              <c:pt idx="3">
                <c:v>Recuperar</c:v>
              </c:pt>
              <c:pt idx="4">
                <c:v>Defender</c:v>
              </c:pt>
            </c:str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6E0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3155B-99C6-40E4-904F-0C9EFC14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Multi-Cloud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Engineering Program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4E1A7-E8B7-4E36-ADDE-2DAB1FB2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7E1DF"/>
                </a:solidFill>
              </a:defRPr>
            </a:pPr>
            <a:r>
              <a:rPr sz="2025" b="1">
                <a:solidFill>
                  <a:srgbClr val="A7E1DF"/>
                </a:solidFill>
              </a:rPr>
              <a:t>24 partes · 288 clases · 1.288 horas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B9B8C-BE1E-45D4-8C62-7B944202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De fundamentos a arquitectura cloud experta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4C48C-3176-4CB1-86BA-27878BCF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864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6D4E1"/>
                </a:solidFill>
              </a:defRPr>
            </a:pPr>
            <a:r>
              <a:rPr sz="1125" b="0">
                <a:solidFill>
                  <a:srgbClr val="C6D4E1"/>
                </a:solidFill>
              </a:rPr>
              <a:t>AWS · Azure · Google Cloud · Kubernetes · SRE · Seguridad · FinOps · IA</a:t>
            </a:r>
          </a:p>
        </p:txBody>
      </p:sp>
    </p:spTree>
    <p:extLst>
      <p:ext uri="{BB962C8B-B14F-4D97-AF65-F5344CB8AC3E}">
        <p14:creationId xmlns:p14="http://schemas.microsoft.com/office/powerpoint/2010/main" val="18040064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80C316-6505-4517-A3E6-4E37F682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C83"/>
                </a:solidFill>
              </a:defRPr>
            </a:pPr>
            <a:r>
              <a:rPr sz="1050" b="1">
                <a:solidFill>
                  <a:srgbClr val="007C83"/>
                </a:solidFill>
              </a:rPr>
              <a:t>MULTI-CLOUD ENGINEERING · V2.0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272DB-22E4-470C-ACBD-34F1014D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La nube se aprende como sistema, no como catálogo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4A60A5-7FFB-4CA4-BFA3-FC12E91C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779"/>
                </a:solidFill>
              </a:defRPr>
            </a:pPr>
            <a:r>
              <a:rPr sz="900" b="0">
                <a:solidFill>
                  <a:srgbClr val="536779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BE439-1A3E-4C69-9C5E-0A58E58B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C83"/>
                </a:solidFill>
              </a:defRPr>
            </a:pPr>
            <a:r>
              <a:rPr sz="1725" b="1">
                <a:solidFill>
                  <a:srgbClr val="007C83"/>
                </a:solidFill>
              </a:rPr>
              <a:t>REQUISITOS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91E74-4BE9-4DD0-B980-61F2BF58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955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C83"/>
                </a:solidFill>
              </a:defRPr>
            </a:pPr>
            <a:r>
              <a:rPr sz="1725" b="1">
                <a:solidFill>
                  <a:srgbClr val="007C83"/>
                </a:solidFill>
              </a:rPr>
              <a:t>ARQUITECTURA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66587-432E-47F7-B583-E29587A4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95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C83"/>
                </a:solidFill>
              </a:defRPr>
            </a:pPr>
            <a:r>
              <a:rPr sz="1725" b="1">
                <a:solidFill>
                  <a:srgbClr val="007C83"/>
                </a:solidFill>
              </a:rPr>
              <a:t>OPERACIÓN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A56BD-7760-410F-A0FC-84885471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0955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C83"/>
                </a:solidFill>
              </a:defRPr>
            </a:pPr>
            <a:r>
              <a:rPr sz="1725" b="1">
                <a:solidFill>
                  <a:srgbClr val="007C83"/>
                </a:solidFill>
              </a:rPr>
              <a:t>EVIDENCIA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AC6EB-73A7-48DF-97C0-219BF126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09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ECBFD-C235-4EDB-8958-5977CB6F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67000"/>
            <a:ext cx="2286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83430-4053-4376-986D-7BB22993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67000"/>
            <a:ext cx="200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2ABBE8-ADB4-46BD-82FC-4608361C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66700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4E291-44F0-4EC8-A29B-C4301E95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Escenarios medibles</a:t>
            </a:r>
          </a:p>
          <a:p xmlns:a="http://schemas.openxmlformats.org/drawingml/2006/main">
            <a:pPr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Datos, SLO y costo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C0B72-F28D-4CF3-A901-7FF4AC17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04800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Fronteras, ADRs</a:t>
            </a:r>
          </a:p>
          <a:p xmlns:a="http://schemas.openxmlformats.org/drawingml/2006/main">
            <a:pPr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y trade-offs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E2A699-8EB1-4608-81DB-8622E825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4800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Señales, fallos,</a:t>
            </a:r>
          </a:p>
          <a:p xmlns:a="http://schemas.openxmlformats.org/drawingml/2006/main">
            <a:pPr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recuperación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B5255-EB84-4C6A-8E95-091CA0B0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04800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Código, pruebas,</a:t>
            </a:r>
          </a:p>
          <a:p xmlns:a="http://schemas.openxmlformats.org/drawingml/2006/main">
            <a:pPr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logs y defensa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F41A3-6373-43C2-89BC-085784DB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00625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La secuencia obliga a conectar intención, implementación y estado observado.</a:t>
            </a:r>
          </a:p>
        </p:txBody>
      </p:sp>
    </p:spTree>
    <p:extLst>
      <p:ext uri="{BB962C8B-B14F-4D97-AF65-F5344CB8AC3E}">
        <p14:creationId xmlns:p14="http://schemas.microsoft.com/office/powerpoint/2010/main" val="17749062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5067F1-83BA-4B70-A8C1-594EE695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C83"/>
                </a:solidFill>
              </a:defRPr>
            </a:pPr>
            <a:r>
              <a:rPr sz="1050" b="1">
                <a:solidFill>
                  <a:srgbClr val="007C83"/>
                </a:solidFill>
              </a:rPr>
              <a:t>MULTI-CLOUD ENGINEERING · V2.0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74653-33D4-484F-A7F3-FB9CBE5E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La ampliación crea nueve dominios que antes estaban comprimidos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DEFA0-5A88-4EBF-8612-9EA0A2A4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779"/>
                </a:solidFill>
              </a:defRPr>
            </a:pPr>
            <a:r>
              <a:rPr sz="900" b="0">
                <a:solidFill>
                  <a:srgbClr val="536779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8484B-4A70-4162-8090-8628427A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62125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7C48"/>
                </a:solidFill>
              </a:defRPr>
            </a:pPr>
            <a:r>
              <a:rPr sz="2250" b="1">
                <a:solidFill>
                  <a:srgbClr val="F47C48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D8EDD-4144-41B9-B9E2-E5983E6F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00225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Arquitectura de sistemas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61522-12D0-4E19-89A4-B995D1C6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62125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7C48"/>
                </a:solidFill>
              </a:defRPr>
            </a:pPr>
            <a:r>
              <a:rPr sz="2250" b="1">
                <a:solidFill>
                  <a:srgbClr val="F47C48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DCEBE-0ED9-425E-BF6D-4FC469D7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0225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Redes avanzadas y edge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CE699-556C-42A2-9791-B6AF9795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62125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7C48"/>
                </a:solidFill>
              </a:defRPr>
            </a:pPr>
            <a:r>
              <a:rPr sz="2250" b="1">
                <a:solidFill>
                  <a:srgbClr val="F47C48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3C74B-34E8-4742-A69E-F22B1028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00225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AWS en producción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76F20-D7E4-4DED-A672-1E00F66C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7C48"/>
                </a:solidFill>
              </a:defRPr>
            </a:pPr>
            <a:r>
              <a:rPr sz="2250" b="1">
                <a:solidFill>
                  <a:srgbClr val="F47C48"/>
                </a:solidFill>
              </a:rPr>
              <a:t>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6A03D-E55F-472E-91B2-A0888DD6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33725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Azure en producción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842CC2-92CE-42B2-BB16-093E15B8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95625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7C48"/>
                </a:solidFill>
              </a:defRPr>
            </a:pPr>
            <a:r>
              <a:rPr sz="2250" b="1">
                <a:solidFill>
                  <a:srgbClr val="F47C48"/>
                </a:solidFill>
              </a:rPr>
              <a:t>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E1EB72-C50C-4986-9ECE-2D235775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33725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Google Cloud en producción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498E9-051B-4620-B9EB-B32ABD6E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95625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7C48"/>
                </a:solidFill>
              </a:defRPr>
            </a:pPr>
            <a:r>
              <a:rPr sz="2250" b="1">
                <a:solidFill>
                  <a:srgbClr val="F47C48"/>
                </a:solidFill>
              </a:rPr>
              <a:t>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E456F3-AAF7-44C9-B253-1A7157AF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33725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Datos, IA y agentes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A5FF72-399C-4B7C-ADAD-88F5D497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29125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7C48"/>
                </a:solidFill>
              </a:defRPr>
            </a:pPr>
            <a:r>
              <a:rPr sz="2250" b="1">
                <a:solidFill>
                  <a:srgbClr val="F47C48"/>
                </a:solidFill>
              </a:rPr>
              <a:t>21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674343-EF42-4609-87D5-9EA610F2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67225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Operación e incidentes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9C265-530B-4EFF-9CEE-204F51F1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29125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7C48"/>
                </a:solidFill>
              </a:defRPr>
            </a:pPr>
            <a:r>
              <a:rPr sz="2250" b="1">
                <a:solidFill>
                  <a:srgbClr val="F47C48"/>
                </a:solidFill>
              </a:rPr>
              <a:t>22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27890A-36E7-4F09-A7DD-DE665C0B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67225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Especializaciones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F9E3DF-7D42-4739-B7E0-8C46BA32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29125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7C48"/>
                </a:solidFill>
              </a:defRPr>
            </a:pPr>
            <a:r>
              <a:rPr sz="2250" b="1">
                <a:solidFill>
                  <a:srgbClr val="F47C48"/>
                </a:solidFill>
              </a:rPr>
              <a:t>23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737C88-999A-44DA-B0EF-400DF897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67225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Capstones por industria</a:t>
            </a:r>
          </a:p>
        </p:txBody>
      </p:sp>
    </p:spTree>
    <p:extLst>
      <p:ext uri="{BB962C8B-B14F-4D97-AF65-F5344CB8AC3E}">
        <p14:creationId xmlns:p14="http://schemas.microsoft.com/office/powerpoint/2010/main" val="21424865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EC699-D693-427A-A518-14487E48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C83"/>
                </a:solidFill>
              </a:defRPr>
            </a:pPr>
            <a:r>
              <a:rPr sz="1050" b="1">
                <a:solidFill>
                  <a:srgbClr val="007C83"/>
                </a:solidFill>
              </a:rPr>
              <a:t>MULTI-CLOUD ENGINEERING · V2.0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05C49-830E-40A2-84D9-57218305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Cada clase termina en una práctica que puede fallar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45394-0994-4FCD-8773-E0DABCD7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779"/>
                </a:solidFill>
              </a:defRPr>
            </a:pPr>
            <a:r>
              <a:rPr sz="900" b="0">
                <a:solidFill>
                  <a:srgbClr val="536779"/>
                </a:solidFill>
              </a:rPr>
              <a:t>04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723900" y="1666875"/>
          <a:ext xmlns:a="http://schemas.openxmlformats.org/drawingml/2006/main" cx="5810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4673122670404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26BA9-5410-4105-9A99-58D59B6D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Contrato de evidencia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C9D80-8779-4A9C-B436-2438C75B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714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✓ comprobación positiva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✓ denegación o fallo esperado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✓ rollback verificado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✓ límite y costo declarados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✓ artefacto reproducible</a:t>
            </a:r>
          </a:p>
        </p:txBody>
      </p:sp>
    </p:spTree>
    <p:extLst>
      <p:ext uri="{BB962C8B-B14F-4D97-AF65-F5344CB8AC3E}">
        <p14:creationId xmlns:p14="http://schemas.microsoft.com/office/powerpoint/2010/main" val="14436181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12475-C868-4DE1-B367-9B9C8600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C83"/>
                </a:solidFill>
              </a:defRPr>
            </a:pPr>
            <a:r>
              <a:rPr sz="1050" b="1">
                <a:solidFill>
                  <a:srgbClr val="007C83"/>
                </a:solidFill>
              </a:rPr>
              <a:t>MULTI-CLOUD ENGINEERING · V2.0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10F58-03E6-4C91-A405-C51529C8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CloudShop conecta las 24 etapas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58E94-9717-4D10-BAF4-FDC599F0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779"/>
                </a:solidFill>
              </a:defRPr>
            </a:pPr>
            <a:r>
              <a:rPr sz="900" b="0">
                <a:solidFill>
                  <a:srgbClr val="536779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1BF67-436A-416A-ABAA-FFEBBDE3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C83"/>
                </a:solidFill>
              </a:defRPr>
            </a:pPr>
            <a:r>
              <a:rPr sz="1800" b="1">
                <a:solidFill>
                  <a:srgbClr val="007C83"/>
                </a:solidFill>
              </a:rPr>
              <a:t>LOCAL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36B80-5D91-47F0-8B75-EE86510F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573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C83"/>
                </a:solidFill>
              </a:defRPr>
            </a:pPr>
            <a:r>
              <a:rPr sz="1800" b="1">
                <a:solidFill>
                  <a:srgbClr val="007C83"/>
                </a:solidFill>
              </a:rPr>
              <a:t>SANDBOX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27309-1BF1-4A41-A19E-A28F29CD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573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C83"/>
                </a:solidFill>
              </a:defRPr>
            </a:pPr>
            <a:r>
              <a:rPr sz="1800" b="1">
                <a:solidFill>
                  <a:srgbClr val="007C83"/>
                </a:solidFill>
              </a:rPr>
              <a:t>PRODUCCIÓN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A8A14-0888-4EC9-8429-758A4E68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286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API Python</a:t>
            </a:r>
          </a:p>
          <a:p xmlns:a="http://schemas.openxmlformats.org/drawingml/2006/main">
            <a:pPr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Docker</a:t>
            </a:r>
          </a:p>
          <a:p xmlns:a="http://schemas.openxmlformats.org/drawingml/2006/main">
            <a:pPr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Health checks</a:t>
            </a:r>
          </a:p>
          <a:p xmlns:a="http://schemas.openxmlformats.org/drawingml/2006/main">
            <a:pPr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Logs 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BD6C9-2CF4-4EAD-9C4D-C50D5D22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OIDC temporal</a:t>
            </a:r>
          </a:p>
          <a:p xmlns:a="http://schemas.openxmlformats.org/drawingml/2006/main">
            <a:pPr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IaC plan/apply</a:t>
            </a:r>
          </a:p>
          <a:p xmlns:a="http://schemas.openxmlformats.org/drawingml/2006/main">
            <a:pPr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Cost gate</a:t>
            </a:r>
          </a:p>
          <a:p xmlns:a="http://schemas.openxmlformats.org/drawingml/2006/main">
            <a:pPr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Destroy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9B3AB-133B-41D9-A477-35D7CE46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SLO y alertas</a:t>
            </a:r>
          </a:p>
          <a:p xmlns:a="http://schemas.openxmlformats.org/drawingml/2006/main">
            <a:pPr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DR y game day</a:t>
            </a:r>
          </a:p>
          <a:p xmlns:a="http://schemas.openxmlformats.org/drawingml/2006/main">
            <a:pPr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Threat model</a:t>
            </a:r>
          </a:p>
          <a:p xmlns:a="http://schemas.openxmlformats.org/drawingml/2006/main">
            <a:pPr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FinOps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353DF-73F8-4AD1-B2B7-FBC770FC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9"/>
                </a:solidFill>
              </a:defRPr>
            </a:pPr>
            <a:r>
              <a:rPr sz="1500" b="0">
                <a:solidFill>
                  <a:srgbClr val="536779"/>
                </a:solidFill>
              </a:rPr>
              <a:t>Practicar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F1C0A-8B66-4C2E-99C9-3BBB096F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101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9"/>
                </a:solidFill>
              </a:defRPr>
            </a:pPr>
            <a:r>
              <a:rPr sz="1500" b="0">
                <a:solidFill>
                  <a:srgbClr val="536779"/>
                </a:solidFill>
              </a:rPr>
              <a:t>Validar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CA315-26BE-45C0-B7D2-E63E07CA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8101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9"/>
                </a:solidFill>
              </a:defRPr>
            </a:pPr>
            <a:r>
              <a:rPr sz="1500" b="0">
                <a:solidFill>
                  <a:srgbClr val="536779"/>
                </a:solidFill>
              </a:rPr>
              <a:t>Operar</a:t>
            </a:r>
          </a:p>
        </p:txBody>
      </p:sp>
    </p:spTree>
    <p:extLst>
      <p:ext uri="{BB962C8B-B14F-4D97-AF65-F5344CB8AC3E}">
        <p14:creationId xmlns:p14="http://schemas.microsoft.com/office/powerpoint/2010/main" val="10718172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7AE639-3C15-4CF4-A029-89EFB987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C83"/>
                </a:solidFill>
              </a:defRPr>
            </a:pPr>
            <a:r>
              <a:rPr sz="1050" b="1">
                <a:solidFill>
                  <a:srgbClr val="007C83"/>
                </a:solidFill>
              </a:rPr>
              <a:t>MULTI-CLOUD ENGINEERING · V2.0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1BB7F-66B1-47F0-8A2C-1DBF0108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La evaluación mide criterio y recuperación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1C2AA-CAF8-4195-A067-0E9CCF90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779"/>
                </a:solidFill>
              </a:defRPr>
            </a:pPr>
            <a:r>
              <a:rPr sz="900" b="0">
                <a:solidFill>
                  <a:srgbClr val="536779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5667A-3524-4CD9-900A-44C5A36F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2D409-5C7A-4172-984D-73A11DF4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145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Diagnóstico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86209-2B11-4400-A3F3-31C7978A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B4D"/>
                </a:solidFill>
              </a:defRPr>
            </a:pPr>
            <a:r>
              <a:rPr sz="1575" b="0">
                <a:solidFill>
                  <a:srgbClr val="172B4D"/>
                </a:solidFill>
              </a:rPr>
              <a:t>60 preguntas · ruta inicial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389B6-7D50-4850-87D1-9832B456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3062E-2AB5-4C85-AE0B-C61B3A2D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146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Checkpoints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ABAA3-D9B8-49EB-9089-4888747A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B4D"/>
                </a:solidFill>
              </a:defRPr>
            </a:pPr>
            <a:r>
              <a:rPr sz="1575" b="0">
                <a:solidFill>
                  <a:srgbClr val="172B4D"/>
                </a:solidFill>
              </a:rPr>
              <a:t>6 defensas prácticas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E9820-76EA-4F84-BFE0-63299E41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201AC-71D3-4B63-9C90-3E1FB8DC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147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Examen por 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ABF4B-902F-451C-BFFC-6AD46F33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147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B4D"/>
                </a:solidFill>
              </a:defRPr>
            </a:pPr>
            <a:r>
              <a:rPr sz="1575" b="0">
                <a:solidFill>
                  <a:srgbClr val="172B4D"/>
                </a:solidFill>
              </a:rPr>
              <a:t>5 escenarios profesionales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4F27C-EAE9-4C0D-B2DB-BFF7C77D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15CE64-F020-4A78-AF40-3C7B2E59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148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Graduación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416BD-126C-4AD1-A1D4-21051824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1487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B4D"/>
                </a:solidFill>
              </a:defRPr>
            </a:pPr>
            <a:r>
              <a:rPr sz="1575" b="0">
                <a:solidFill>
                  <a:srgbClr val="172B4D"/>
                </a:solidFill>
              </a:rPr>
              <a:t>game day + evidencia + panel</a:t>
            </a:r>
          </a:p>
        </p:txBody>
      </p:sp>
    </p:spTree>
    <p:extLst>
      <p:ext uri="{BB962C8B-B14F-4D97-AF65-F5344CB8AC3E}">
        <p14:creationId xmlns:p14="http://schemas.microsoft.com/office/powerpoint/2010/main" val="7842930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8F5F29-9491-4DB5-A2F9-716CD579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C83"/>
                </a:solidFill>
              </a:defRPr>
            </a:pPr>
            <a:r>
              <a:rPr sz="1050" b="1">
                <a:solidFill>
                  <a:srgbClr val="007C83"/>
                </a:solidFill>
              </a:rPr>
              <a:t>MULTI-CLOUD ENGINEERING · V2.0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EB29D-921A-4C37-A794-BE91F09D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El recorrido termina cuando la evidencia resiste preguntas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2937E-3854-4546-B93F-C71BFC2A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779"/>
                </a:solidFill>
              </a:defRPr>
            </a:pPr>
            <a:r>
              <a:rPr sz="900" b="0">
                <a:solidFill>
                  <a:srgbClr val="536779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F5BCB-7532-4B8C-B9C7-D34F1E20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C83"/>
                </a:solidFill>
              </a:defRPr>
            </a:pPr>
            <a:r>
              <a:rPr sz="2325" b="1">
                <a:solidFill>
                  <a:srgbClr val="007C83"/>
                </a:solidFill>
              </a:rPr>
              <a:t>Diseña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94357-C8E8-4101-BFB2-98AC6D8A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526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C83"/>
                </a:solidFill>
              </a:defRPr>
            </a:pPr>
            <a:r>
              <a:rPr sz="2325" b="1">
                <a:solidFill>
                  <a:srgbClr val="007C83"/>
                </a:solidFill>
              </a:rPr>
              <a:t>Implementa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9D188-3353-474D-9062-8F3F5EC5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C83"/>
                </a:solidFill>
              </a:defRPr>
            </a:pPr>
            <a:r>
              <a:rPr sz="2325" b="1">
                <a:solidFill>
                  <a:srgbClr val="007C83"/>
                </a:solidFill>
              </a:rPr>
              <a:t>Rompe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F1074-A2F4-4232-A551-57E6DF50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526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C83"/>
                </a:solidFill>
              </a:defRPr>
            </a:pPr>
            <a:r>
              <a:rPr sz="2325" b="1">
                <a:solidFill>
                  <a:srgbClr val="007C83"/>
                </a:solidFill>
              </a:rPr>
              <a:t>Recupera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BEC28-F268-4FF0-A60C-315258DC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Arquitectura</a:t>
            </a:r>
          </a:p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trazable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C033B-CA87-490F-91EF-91AD5477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09875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Código e IaC</a:t>
            </a:r>
          </a:p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reproducibles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6AB2E-F9E9-4DDC-A4D1-10845960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9875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Prueba negativa</a:t>
            </a:r>
          </a:p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y game day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A704F-05F0-420C-BBBA-B899330E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0987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Runbook, SLO</a:t>
            </a:r>
          </a:p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y aprendizaje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A987D-CEDA-471B-B645-C37946EF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Resultado: una defensa técnica sustentada, no una lista de servicios memorizados.</a:t>
            </a:r>
          </a:p>
        </p:txBody>
      </p:sp>
    </p:spTree>
    <p:extLst>
      <p:ext uri="{BB962C8B-B14F-4D97-AF65-F5344CB8AC3E}">
        <p14:creationId xmlns:p14="http://schemas.microsoft.com/office/powerpoint/2010/main" val="2747430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2026-07-31T21:39:48.9370000Z</dcterms:created>
  <dcterms:modified xsi:type="dcterms:W3CDTF">2026-07-31T21:39:48.9370000Z</dcterms:modified>
</coreProperties>
</file>